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04"/>
  </p:normalViewPr>
  <p:slideViewPr>
    <p:cSldViewPr snapToGrid="0">
      <p:cViewPr varScale="1">
        <p:scale>
          <a:sx n="105" d="100"/>
          <a:sy n="105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AFB9B-4010-E345-BB77-AD9F865D027A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E606A-938B-5F4F-8E8C-2835FDA2743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594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E606A-938B-5F4F-8E8C-2835FDA2743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33498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4EE89-FE9C-807A-AAF8-9D0987FDB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EAF805-CA6C-911F-5B10-61592FEDE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0ECD56-84DE-50C6-8609-D71C1BF6C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18F6B-E4B3-1592-A706-0AE8747F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08394-A73B-8F25-7EFA-A5A5AC59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16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7A229-9F80-60A5-E79C-A42FC157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F1F49F-B737-E17B-A7BA-CD79A9D5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4EA18B-635E-BB24-8622-73B85FD0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AB238-97F3-1CB4-1A0D-C7B775C3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0F962-F145-FB64-E6A8-57D140B7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1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55460-97AA-6538-7823-B38B2E83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014F5B-CA1D-410D-570A-32F48D5D3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EF5CA3-6754-ED56-BFCC-ACC2E42E7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4BD4B-A3F7-D350-7716-EE0888B4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9C7B0B-991C-38DF-B433-CA3F0913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91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E73A6-0E09-B21B-4C16-554363C6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9E8C4-8527-8E7F-63FD-6AD94F971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9C6BD6-849F-307A-253B-462237AB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8A9299-7E02-B5A5-91EE-54672BC0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B41D4-F6A8-E18C-71F0-79075005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75245-B949-65B1-4453-28CBA8A2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77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10A54-BC5F-0E27-2893-86E52960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F900AB-C970-7DE1-F568-98A8382BD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ACB5CC-6636-5F82-C99A-5A9C66E1C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165AF0-8749-ED3D-8633-BEF913E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14725C-0446-38EB-C284-889472559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D6B582-874B-12A7-C66D-894999DA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D72040-C208-FAE3-9877-97480C2C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C1A9D5-296D-8500-004C-A3BC70E1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64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C1438-0794-F73D-1927-19CFF5FC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2BD0BF-3BD2-D433-A4AE-4C3C8561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8B2F79-CAF1-92EA-21BC-F7D1AFD7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57047A-7E15-F9FB-39A5-64D36794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7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85D671-46D1-2F33-DA67-5A74C4D0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B1826C-829D-E5A4-2D24-7B490992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29A74-677F-49BE-55BD-69FE1163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1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6BA50-98CD-22B6-0B98-FABAC5AF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4FED05-D5B1-6BC8-BB55-E61DC48F6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A92FF7-E94A-CBB0-7644-326BBED81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746C53-180F-B09A-552D-0606865E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0BE91-05A5-AABA-4466-3B1826BD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5F93CD-5203-F16B-8277-4CAFD3A6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3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C198D-36B7-EE22-79FB-2D3A32860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BA65D3-7DE8-ADA0-3BD3-265C75C17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960C71-CCB5-3118-77F3-0E11D6F40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4C7E1F-D826-E375-73D3-EBB6B161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7C9B1-2CB2-C7B3-A719-F55C0C22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BD0C74-0B75-1B12-5334-6D61C40D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47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63B6A-D6FF-7620-0081-F54824BE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9A227A-628C-8B8C-7F04-114281B2D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3DC6B-AE35-487D-B075-C9B34DA68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29503E-1767-409B-950E-D3997E63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14EA31-34A8-E5E9-6A73-05335FF0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4F62FF-A0B3-B979-AB5F-9AA36C9AF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898C2D-A4C0-0E65-E3BD-79246227A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6BA92-8D10-588A-8CB7-521D1AEC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32BF11-FBB8-656E-0F32-63ABA653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83A34-CF5F-319B-D6E3-CE787B92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820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DF1D4E-5011-55B3-9DF4-9EF6A799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4D277-92E2-67D4-606C-0AB0FD46A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51C78-AD72-305A-EAC1-D91BD23C9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1/14/26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89B93-CC06-0EF2-2A55-D08923109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71790-524D-87DA-BF94-857A2E9E7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8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BBF4E-92B0-7818-6808-D3C9FC02F3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手話認識期末発表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7697C3-E766-A1D9-741D-05DB6EC88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5117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2EDB0-BC14-A150-12D8-44261468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処理方法の対比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8E6B5B-D8C3-B3A5-16EA-AAE51A4752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旧モデル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前処理：正規化</a:t>
            </a:r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+</a:t>
            </a:r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マスキング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モデル選択：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pPr lvl="1"/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Simple Linear</a:t>
            </a:r>
          </a:p>
          <a:p>
            <a:pPr lvl="1"/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Global Average Pooling</a:t>
            </a:r>
          </a:p>
          <a:p>
            <a:pPr lvl="1"/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Neural Network</a:t>
            </a:r>
            <a:endParaRPr kumimoji="1" lang="zh-CN" altLang="en-US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37F89A-D18E-875B-1B57-41CDB0258E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新モデル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前処理：正規化</a:t>
            </a:r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+</a:t>
            </a:r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データ拡張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モデル選択：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pPr lvl="1"/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Transformer Encoder</a:t>
            </a:r>
            <a:endParaRPr kumimoji="1" lang="zh-CN" altLang="en-US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627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87DF5-3242-F1C5-7486-896B64DA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分析効果の対比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7D7CFE-9BF6-DD0A-A5A3-FC335AA0D8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70804"/>
            <a:ext cx="5181600" cy="3822071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CF8F7EF-81F2-6722-F8E0-F4850D0997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05630" y="2145166"/>
            <a:ext cx="4885712" cy="43513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FDC9B31-D0AF-2280-B697-6FD3C9C8B8D0}"/>
              </a:ext>
            </a:extLst>
          </p:cNvPr>
          <p:cNvSpPr txBox="1"/>
          <p:nvPr/>
        </p:nvSpPr>
        <p:spPr>
          <a:xfrm>
            <a:off x="1465943" y="1690688"/>
            <a:ext cx="311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ベースラインモデル（</a:t>
            </a:r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S3-4</a:t>
            </a:r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）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正確率</a:t>
            </a:r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61.6%</a:t>
            </a:r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前後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4D10A8-1E65-004A-70AD-66E5EA7A3DBC}"/>
              </a:ext>
            </a:extLst>
          </p:cNvPr>
          <p:cNvSpPr txBox="1"/>
          <p:nvPr/>
        </p:nvSpPr>
        <p:spPr>
          <a:xfrm>
            <a:off x="6270171" y="1690688"/>
            <a:ext cx="1654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当モデル</a:t>
            </a:r>
            <a:endParaRPr kumimoji="1" lang="en-US" altLang="zh-CN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正確率約</a:t>
            </a:r>
            <a:r>
              <a:rPr kumimoji="1" lang="en-US" altLang="zh-CN" dirty="0">
                <a:latin typeface="Yu Mincho" panose="02020400000000000000" pitchFamily="18" charset="-128"/>
                <a:ea typeface="Yu Mincho" panose="02020400000000000000" pitchFamily="18" charset="-128"/>
              </a:rPr>
              <a:t>79%</a:t>
            </a:r>
            <a:endParaRPr kumimoji="1" lang="zh-CN" altLang="en-US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267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1401C-B40D-1A6E-2653-3FB4405C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改善手法の試み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E252B-C05D-B72E-FD3E-47EA5CF9C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肩</a:t>
            </a:r>
            <a:r>
              <a:rPr lang="ja-JP" altLang="en-US" sz="2000" b="1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回転補正（</a:t>
            </a:r>
            <a:r>
              <a:rPr lang="en-US" altLang="zh-CN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Shoulder Rotation Alignment</a:t>
            </a:r>
            <a:r>
              <a:rPr lang="zh-CN" altLang="en-US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）</a:t>
            </a:r>
            <a:endParaRPr lang="en-US" altLang="zh-CN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両肩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結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ぶ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線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が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水平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になるように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全座標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回転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させることで、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撮影角度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影響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排除</a:t>
            </a:r>
            <a:endParaRPr lang="ja-JP" altLang="en-US" sz="200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ーー正確率が１％前後上昇させた：体の傾きという無意義のノイズ除去が役に立つ</a:t>
            </a:r>
            <a:endParaRPr kumimoji="1" lang="en-US" altLang="zh-CN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速度を要素として取り入れ</a:t>
            </a:r>
            <a:r>
              <a:rPr kumimoji="1"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：</a:t>
            </a:r>
            <a:endParaRPr kumimoji="1" lang="en-US" altLang="zh-CN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点座標（</a:t>
            </a:r>
            <a:r>
              <a:rPr kumimoji="1" lang="en-US" altLang="zh-CN" sz="20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x,y,z</a:t>
            </a:r>
            <a:r>
              <a:rPr kumimoji="1"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）のほかに中央差分法を用いて</a:t>
            </a:r>
            <a:r>
              <a:rPr kumimoji="1" lang="en-US" altLang="zh-CN" sz="20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dx,dy,dz</a:t>
            </a:r>
            <a:r>
              <a:rPr kumimoji="1"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を算出し要素に取り入れ</a:t>
            </a:r>
            <a:endParaRPr kumimoji="1" lang="en-US" altLang="zh-CN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en-US" altLang="zh-CN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dx=(x</a:t>
            </a:r>
            <a:r>
              <a:rPr kumimoji="1" lang="en-US" altLang="zh-CN" sz="2000" baseline="-25000" dirty="0">
                <a:latin typeface="Yu Mincho" panose="02020400000000000000" pitchFamily="18" charset="-128"/>
                <a:ea typeface="Yu Mincho" panose="02020400000000000000" pitchFamily="18" charset="-128"/>
              </a:rPr>
              <a:t>t+1</a:t>
            </a:r>
            <a:r>
              <a:rPr kumimoji="1" lang="en-US" altLang="zh-CN" sz="2000">
                <a:latin typeface="Yu Mincho" panose="02020400000000000000" pitchFamily="18" charset="-128"/>
                <a:ea typeface="Yu Mincho" panose="02020400000000000000" pitchFamily="18" charset="-128"/>
              </a:rPr>
              <a:t>+x</a:t>
            </a:r>
            <a:r>
              <a:rPr kumimoji="1" lang="en-US" altLang="zh-CN" sz="2000" baseline="-25000">
                <a:latin typeface="Yu Mincho" panose="02020400000000000000" pitchFamily="18" charset="-128"/>
                <a:ea typeface="Yu Mincho" panose="02020400000000000000" pitchFamily="18" charset="-128"/>
              </a:rPr>
              <a:t>t-1</a:t>
            </a:r>
            <a:r>
              <a:rPr kumimoji="1" lang="en-US" altLang="zh-CN" sz="2000">
                <a:latin typeface="Yu Mincho" panose="02020400000000000000" pitchFamily="18" charset="-128"/>
                <a:ea typeface="Yu Mincho" panose="02020400000000000000" pitchFamily="18" charset="-128"/>
              </a:rPr>
              <a:t>-2x</a:t>
            </a:r>
            <a:r>
              <a:rPr kumimoji="1" lang="en-US" altLang="zh-CN" sz="2000" baseline="-25000">
                <a:latin typeface="Yu Mincho" panose="02020400000000000000" pitchFamily="18" charset="-128"/>
                <a:ea typeface="Yu Mincho" panose="02020400000000000000" pitchFamily="18" charset="-128"/>
              </a:rPr>
              <a:t>t</a:t>
            </a:r>
            <a:r>
              <a:rPr kumimoji="1" lang="en-US" altLang="zh-CN" sz="2000">
                <a:latin typeface="Yu Mincho" panose="02020400000000000000" pitchFamily="18" charset="-128"/>
                <a:ea typeface="Yu Mincho" panose="02020400000000000000" pitchFamily="18" charset="-128"/>
              </a:rPr>
              <a:t>)/2dt</a:t>
            </a:r>
            <a:endParaRPr kumimoji="1" lang="en-US" altLang="zh-CN" sz="2000" baseline="-25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kumimoji="1"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ーー結果に有意な影響を及ぼさない</a:t>
            </a:r>
            <a:endParaRPr kumimoji="1" lang="en-US" altLang="zh-CN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lang="en-US" altLang="zh-CN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WLASL2000</a:t>
            </a:r>
            <a:r>
              <a:rPr lang="zh-CN" altLang="en-US" sz="20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の成功例を参照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：</a:t>
            </a:r>
            <a:endParaRPr lang="en-US" altLang="zh-CN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手話翻訳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分野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で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成功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している </a:t>
            </a:r>
            <a:r>
              <a:rPr lang="en-US" altLang="zh-CN" sz="20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SignJoey</a:t>
            </a:r>
            <a:r>
              <a:rPr lang="en-US" altLang="zh-CN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 (CVPR'20)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構成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参考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に、</a:t>
            </a:r>
            <a:r>
              <a:rPr lang="en-US" altLang="zh-CN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Pre-Layer Normalization 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や </a:t>
            </a:r>
            <a:r>
              <a:rPr lang="en-US" altLang="zh-CN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Noam Scheduler 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導入</a:t>
            </a:r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しました。</a:t>
            </a:r>
            <a:endParaRPr lang="en-US" altLang="ja-JP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lang="ja-JP" altLang="en-US" sz="2000">
                <a:latin typeface="Yu Mincho" panose="02020400000000000000" pitchFamily="18" charset="-128"/>
                <a:ea typeface="Yu Mincho" panose="02020400000000000000" pitchFamily="18" charset="-128"/>
              </a:rPr>
              <a:t>ーー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結果として正確率が</a:t>
            </a:r>
            <a:r>
              <a:rPr lang="en-US" altLang="zh-CN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60%</a:t>
            </a:r>
            <a:r>
              <a:rPr lang="zh-CN" altLang="en-US" sz="2000" dirty="0">
                <a:latin typeface="Yu Mincho" panose="02020400000000000000" pitchFamily="18" charset="-128"/>
                <a:ea typeface="Yu Mincho" panose="02020400000000000000" pitchFamily="18" charset="-128"/>
              </a:rPr>
              <a:t>にも達していない</a:t>
            </a:r>
            <a:endParaRPr lang="ja-JP" altLang="en-US" sz="200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endParaRPr kumimoji="1" lang="zh-CN" altLang="en-US" sz="20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574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05859-A341-22C8-AEB7-A79CE8EC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Yu Mincho" panose="02020400000000000000" pitchFamily="18" charset="-128"/>
                <a:ea typeface="Yu Mincho" panose="02020400000000000000" pitchFamily="18" charset="-128"/>
              </a:rPr>
              <a:t>対比からの知見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B7170-7454-0DAF-713C-7E2678EC0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１、</a:t>
            </a:r>
            <a:r>
              <a:rPr kumimoji="1"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Transformer</a:t>
            </a:r>
            <a:r>
              <a:rPr kumimoji="1"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はベースラインモデルより、収束のスピードや正確さに著しく優れている。</a:t>
            </a:r>
            <a:r>
              <a:rPr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Global Average Pooling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には、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手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動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きの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順序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や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時系列情報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が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失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われるという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欠点がある一方、</a:t>
            </a:r>
            <a:r>
              <a:rPr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Self-Attention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機構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により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離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れたフレーム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間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依存関係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学習可能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にし、</a:t>
            </a:r>
            <a:r>
              <a:rPr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Positional Encoding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によって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動作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順序情報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保持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することで、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手話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のような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時系列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データの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認識能力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根本的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向上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させましたと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考えられる。</a:t>
            </a:r>
            <a:endParaRPr lang="en-US" altLang="ja-JP" sz="24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２、シンプルな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特徴量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有効性に関しまして、座標情報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加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えて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速度特徴量（</a:t>
            </a:r>
            <a:r>
              <a:rPr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Velocity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）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追加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した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実験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も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行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いましたが、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精度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は</a:t>
            </a:r>
            <a:r>
              <a:rPr lang="en-US" altLang="ja-JP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78.29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パーセントへとわずかに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低下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しました。</a:t>
            </a:r>
            <a:r>
              <a:rPr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WLASL100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のような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小規模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なデータセットにおいては、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特徴量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次元数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を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増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やすことは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過学習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のリスクを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高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めるため、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必要最小限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の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座標情報（</a:t>
            </a:r>
            <a:r>
              <a:rPr lang="en-US" altLang="zh-CN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x, y, z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）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に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絞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る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方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が</a:t>
            </a:r>
            <a:r>
              <a:rPr lang="zh-CN" altLang="en-US" sz="2400" dirty="0">
                <a:latin typeface="Yu Mincho" panose="02020400000000000000" pitchFamily="18" charset="-128"/>
                <a:ea typeface="Yu Mincho" panose="02020400000000000000" pitchFamily="18" charset="-128"/>
              </a:rPr>
              <a:t>有効</a:t>
            </a:r>
            <a:r>
              <a:rPr lang="ja-JP" altLang="en-US" sz="2400">
                <a:latin typeface="Yu Mincho" panose="02020400000000000000" pitchFamily="18" charset="-128"/>
                <a:ea typeface="Yu Mincho" panose="02020400000000000000" pitchFamily="18" charset="-128"/>
              </a:rPr>
              <a:t>である。</a:t>
            </a:r>
            <a:endParaRPr lang="zh-CN" altLang="en-US" sz="24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  <a:p>
            <a:endParaRPr kumimoji="1" lang="zh-CN" altLang="en-US" sz="24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241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DD41A-B9A6-8E58-814E-CE4FC6CF3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800" dirty="0">
                <a:latin typeface="Yu Mincho" panose="02020400000000000000" pitchFamily="18" charset="-128"/>
                <a:ea typeface="Yu Mincho" panose="02020400000000000000" pitchFamily="18" charset="-128"/>
              </a:rPr>
              <a:t>ご清聴ありがとうございます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499549-11E5-5FC8-7171-7CCB7E147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7430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2036</TotalTime>
  <Words>477</Words>
  <Application>Microsoft Macintosh PowerPoint</Application>
  <PresentationFormat>宽屏</PresentationFormat>
  <Paragraphs>34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Yu Mincho</vt:lpstr>
      <vt:lpstr>Arial</vt:lpstr>
      <vt:lpstr>Office 主题​​</vt:lpstr>
      <vt:lpstr>手話認識期末発表</vt:lpstr>
      <vt:lpstr>処理方法の対比</vt:lpstr>
      <vt:lpstr>分析効果の対比</vt:lpstr>
      <vt:lpstr>改善手法の試み</vt:lpstr>
      <vt:lpstr>対比からの知見</vt:lpstr>
      <vt:lpstr>ご清聴ありがとうございます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2026-01-12T05:33:04Z</dcterms:created>
  <dcterms:modified xsi:type="dcterms:W3CDTF">2026-01-14T13:30:53Z</dcterms:modified>
</cp:coreProperties>
</file>